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99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432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732520" y="1143000"/>
            <a:ext cx="32004" cy="4160520"/>
          </a:xfrm>
          <a:prstGeom prst="rect">
            <a:avLst/>
          </a:prstGeom>
          <a:solidFill>
            <a:srgbClr val="36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46920" y="1143000"/>
            <a:ext cx="32004" cy="4160520"/>
          </a:xfrm>
          <a:prstGeom prst="rect">
            <a:avLst/>
          </a:prstGeom>
          <a:solidFill>
            <a:srgbClr val="36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143000"/>
            <a:ext cx="32004" cy="4160520"/>
          </a:xfrm>
          <a:prstGeom prst="rect">
            <a:avLst/>
          </a:prstGeom>
          <a:solidFill>
            <a:srgbClr val="36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75720" y="1143000"/>
            <a:ext cx="32004" cy="4160520"/>
          </a:xfrm>
          <a:prstGeom prst="rect">
            <a:avLst/>
          </a:prstGeom>
          <a:solidFill>
            <a:srgbClr val="36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03920" y="1417320"/>
            <a:ext cx="3337560" cy="27432"/>
          </a:xfrm>
          <a:prstGeom prst="rect">
            <a:avLst/>
          </a:prstGeom>
          <a:solidFill>
            <a:srgbClr val="36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03920" y="2514600"/>
            <a:ext cx="3337560" cy="27432"/>
          </a:xfrm>
          <a:prstGeom prst="rect">
            <a:avLst/>
          </a:prstGeom>
          <a:solidFill>
            <a:srgbClr val="36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03920" y="3611880"/>
            <a:ext cx="3337560" cy="27432"/>
          </a:xfrm>
          <a:prstGeom prst="rect">
            <a:avLst/>
          </a:prstGeom>
          <a:solidFill>
            <a:srgbClr val="36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03920" y="4709160"/>
            <a:ext cx="3337560" cy="27432"/>
          </a:xfrm>
          <a:prstGeom prst="rect">
            <a:avLst/>
          </a:prstGeom>
          <a:solidFill>
            <a:srgbClr val="36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0" y="4251960"/>
            <a:ext cx="50292" cy="1097280"/>
          </a:xfrm>
          <a:prstGeom prst="rect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823960" y="4416552"/>
            <a:ext cx="438912" cy="182880"/>
          </a:xfrm>
          <a:prstGeom prst="ellipse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62288" y="4617720"/>
            <a:ext cx="438912" cy="182880"/>
          </a:xfrm>
          <a:prstGeom prst="ellipse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058400" y="3657600"/>
            <a:ext cx="50292" cy="1261872"/>
          </a:xfrm>
          <a:prstGeom prst="rect">
            <a:avLst/>
          </a:prstGeom>
          <a:solidFill>
            <a:srgbClr val="B7E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90354" y="3846880"/>
            <a:ext cx="504748" cy="210311"/>
          </a:xfrm>
          <a:prstGeom prst="ellipse">
            <a:avLst/>
          </a:prstGeom>
          <a:solidFill>
            <a:srgbClr val="B7E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76688" y="4078224"/>
            <a:ext cx="504748" cy="210311"/>
          </a:xfrm>
          <a:prstGeom prst="ellipse">
            <a:avLst/>
          </a:prstGeom>
          <a:solidFill>
            <a:srgbClr val="B7E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72800" y="4343400"/>
            <a:ext cx="50292" cy="987552"/>
          </a:xfrm>
          <a:prstGeom prst="rect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684764" y="4491532"/>
            <a:ext cx="395020" cy="164592"/>
          </a:xfrm>
          <a:prstGeom prst="ellipse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991088" y="4672584"/>
            <a:ext cx="395020" cy="164592"/>
          </a:xfrm>
          <a:prstGeom prst="ellipse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469880" y="4892040"/>
            <a:ext cx="50292" cy="877824"/>
          </a:xfrm>
          <a:prstGeom prst="rect">
            <a:avLst/>
          </a:prstGeom>
          <a:solidFill>
            <a:srgbClr val="5AA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213848" y="5023713"/>
            <a:ext cx="351129" cy="146304"/>
          </a:xfrm>
          <a:prstGeom prst="ellipse">
            <a:avLst/>
          </a:prstGeom>
          <a:solidFill>
            <a:srgbClr val="5AA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488167" y="5184648"/>
            <a:ext cx="351129" cy="146304"/>
          </a:xfrm>
          <a:prstGeom prst="ellipse">
            <a:avLst/>
          </a:prstGeom>
          <a:solidFill>
            <a:srgbClr val="5AA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1234440"/>
            <a:ext cx="67665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7BE82"/>
                </a:solidFill>
                <a:latin typeface="Aptos"/>
              </a:rPr>
              <a:t>PROYECTO DE APLICACIÓN MÓVIL IoT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874519"/>
            <a:ext cx="694944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700" b="1" i="0">
                <a:solidFill>
                  <a:srgbClr val="F4F8F6"/>
                </a:solidFill>
                <a:latin typeface="Aptos"/>
              </a:rPr>
              <a:t>SMART
GREENHOUSE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657600"/>
            <a:ext cx="658368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B7E6C7"/>
                </a:solidFill>
                <a:latin typeface="Aptos"/>
              </a:rPr>
              <a:t>Control y monitoreo de iluminación para un invernadero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6217920" cy="76328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 dirty="0" err="1">
                <a:solidFill>
                  <a:srgbClr val="B7C7C3"/>
                </a:solidFill>
                <a:latin typeface="Aptos"/>
              </a:rPr>
              <a:t>Aplicaciones</a:t>
            </a:r>
            <a:r>
              <a:rPr sz="1400" b="0" i="0" dirty="0">
                <a:solidFill>
                  <a:srgbClr val="B7C7C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B7C7C3"/>
                </a:solidFill>
                <a:latin typeface="Aptos"/>
              </a:rPr>
              <a:t>Móviles</a:t>
            </a:r>
            <a:r>
              <a:rPr sz="1400" b="0" i="0" dirty="0">
                <a:solidFill>
                  <a:srgbClr val="B7C7C3"/>
                </a:solidFill>
                <a:latin typeface="Aptos"/>
              </a:rPr>
              <a:t> para IoT
INACAP | Unidad 2</a:t>
            </a:r>
            <a:endParaRPr lang="es-CL" sz="1400" b="0" i="0" dirty="0">
              <a:solidFill>
                <a:srgbClr val="B7C7C3"/>
              </a:solidFill>
              <a:latin typeface="Aptos"/>
            </a:endParaRPr>
          </a:p>
          <a:p>
            <a:r>
              <a:rPr lang="es-CL" dirty="0">
                <a:solidFill>
                  <a:srgbClr val="8A9998"/>
                </a:solidFill>
              </a:rPr>
              <a:t>Docente: Mario Alex Tapia Rodríguez</a:t>
            </a:r>
            <a:endParaRPr sz="1400" i="0" dirty="0">
              <a:solidFill>
                <a:srgbClr val="8A999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8046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7BE82"/>
                </a:solidFill>
                <a:latin typeface="Aptos"/>
              </a:rPr>
              <a:t>CONTEXTO Y PROBLEMÁTICA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56032"/>
            <a:ext cx="6400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B7C7C3"/>
                </a:solidFill>
                <a:latin typeface="Aptos"/>
              </a:rPr>
              <a:t>02 / 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914400" cy="41148"/>
          </a:xfrm>
          <a:prstGeom prst="rect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7132320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dirty="0">
                <a:solidFill>
                  <a:srgbClr val="B7C7C3"/>
                </a:solidFill>
                <a:latin typeface="Aptos"/>
              </a:rPr>
              <a:t>SMART GREENHOUSE  |  INACAP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0120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8F6"/>
                </a:solidFill>
                <a:latin typeface="Aptos"/>
              </a:rPr>
              <a:t>¿Qué problema busca resolver?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664208"/>
            <a:ext cx="1051560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B7C7C3"/>
                </a:solidFill>
                <a:latin typeface="Aptos"/>
              </a:rPr>
              <a:t>El proyecto se centra en facilitar el control y la supervisión de la iluminación de un invernadero desde una aplicación Android.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743200"/>
            <a:ext cx="3456432" cy="214884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944368"/>
            <a:ext cx="640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7BE82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30175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4F8F6"/>
                </a:solidFill>
                <a:latin typeface="Aptos"/>
              </a:rPr>
              <a:t>Control centralizado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2999232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7C7C3"/>
                </a:solidFill>
                <a:latin typeface="Aptos"/>
              </a:rPr>
              <a:t>Reunir en una interfaz las opciones de modo y nivel de iluminación.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3983" y="2743200"/>
            <a:ext cx="3456432" cy="214884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1" y="2944368"/>
            <a:ext cx="640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7BE82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1" y="3337560"/>
            <a:ext cx="30175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4F8F6"/>
                </a:solidFill>
                <a:latin typeface="Aptos"/>
              </a:rPr>
              <a:t>Monitoreo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1" y="3886200"/>
            <a:ext cx="2999232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7C7C3"/>
                </a:solidFill>
                <a:latin typeface="Aptos"/>
              </a:rPr>
              <a:t>Mostrar el estado configurado de iluminación para apoyar la supervisión.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5" y="2743200"/>
            <a:ext cx="3456432" cy="214884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7344" y="2944368"/>
            <a:ext cx="640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7BE82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3337560"/>
            <a:ext cx="30175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4F8F6"/>
                </a:solidFill>
                <a:latin typeface="Aptos"/>
              </a:rPr>
              <a:t>Conectividad IoT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3886200"/>
            <a:ext cx="2999232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7C7C3"/>
                </a:solidFill>
                <a:latin typeface="Aptos"/>
              </a:rPr>
              <a:t>Proyectar la sincronización del estado entre dispositivos mediante una solución inalámbrica.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349240"/>
            <a:ext cx="10515600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 dirty="0" err="1">
                <a:solidFill>
                  <a:srgbClr val="E8BE5F"/>
                </a:solidFill>
                <a:latin typeface="Aptos"/>
              </a:rPr>
              <a:t>Alcance</a:t>
            </a:r>
            <a:r>
              <a:rPr sz="1300" b="0" i="0" dirty="0">
                <a:solidFill>
                  <a:srgbClr val="E8BE5F"/>
                </a:solidFill>
                <a:latin typeface="Aptos"/>
              </a:rPr>
              <a:t> actual: </a:t>
            </a:r>
            <a:r>
              <a:rPr sz="1300" b="0" i="0" dirty="0" err="1">
                <a:solidFill>
                  <a:srgbClr val="E8BE5F"/>
                </a:solidFill>
                <a:latin typeface="Aptos"/>
              </a:rPr>
              <a:t>interfaz</a:t>
            </a:r>
            <a:r>
              <a:rPr sz="1300" b="0" i="0" dirty="0">
                <a:solidFill>
                  <a:srgbClr val="E8BE5F"/>
                </a:solidFill>
                <a:latin typeface="Aptos"/>
              </a:rPr>
              <a:t> de control</a:t>
            </a:r>
            <a:r>
              <a:rPr lang="es-CL" sz="1300" b="0" i="0" dirty="0">
                <a:solidFill>
                  <a:srgbClr val="E8BE5F"/>
                </a:solidFill>
                <a:latin typeface="Aptos"/>
              </a:rPr>
              <a:t>,</a:t>
            </a:r>
            <a:r>
              <a:rPr sz="1300" b="0" i="0" dirty="0">
                <a:solidFill>
                  <a:srgbClr val="E8BE5F"/>
                </a:solidFill>
                <a:latin typeface="Aptos"/>
              </a:rPr>
              <a:t> las </a:t>
            </a:r>
            <a:r>
              <a:rPr sz="1300" b="0" i="0" dirty="0" err="1">
                <a:solidFill>
                  <a:srgbClr val="E8BE5F"/>
                </a:solidFill>
                <a:latin typeface="Aptos"/>
              </a:rPr>
              <a:t>mediciones</a:t>
            </a:r>
            <a:r>
              <a:rPr sz="1300" b="0" i="0" dirty="0">
                <a:solidFill>
                  <a:srgbClr val="E8BE5F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E8BE5F"/>
                </a:solidFill>
                <a:latin typeface="Aptos"/>
              </a:rPr>
              <a:t>físicas</a:t>
            </a:r>
            <a:r>
              <a:rPr sz="1300" b="0" i="0" dirty="0">
                <a:solidFill>
                  <a:srgbClr val="E8BE5F"/>
                </a:solidFill>
                <a:latin typeface="Aptos"/>
              </a:rPr>
              <a:t> y el control de hardware </a:t>
            </a:r>
            <a:r>
              <a:rPr sz="1300" b="0" i="0" dirty="0" err="1">
                <a:solidFill>
                  <a:srgbClr val="E8BE5F"/>
                </a:solidFill>
                <a:latin typeface="Aptos"/>
              </a:rPr>
              <a:t>requieren</a:t>
            </a:r>
            <a:r>
              <a:rPr sz="1300" b="0" i="0" dirty="0">
                <a:solidFill>
                  <a:srgbClr val="E8BE5F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E8BE5F"/>
                </a:solidFill>
                <a:latin typeface="Aptos"/>
              </a:rPr>
              <a:t>integración</a:t>
            </a:r>
            <a:r>
              <a:rPr sz="1300" b="0" i="0" dirty="0">
                <a:solidFill>
                  <a:srgbClr val="E8BE5F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E8BE5F"/>
                </a:solidFill>
                <a:latin typeface="Aptos"/>
              </a:rPr>
              <a:t>adicional</a:t>
            </a:r>
            <a:r>
              <a:rPr sz="1300" b="0" i="0" dirty="0">
                <a:solidFill>
                  <a:srgbClr val="E8BE5F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8046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7BE82"/>
                </a:solidFill>
                <a:latin typeface="Aptos"/>
              </a:rPr>
              <a:t>OBJETIVOS Y FUNCIONALIDADES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56032"/>
            <a:ext cx="6400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B7C7C3"/>
                </a:solidFill>
                <a:latin typeface="Aptos"/>
              </a:rPr>
              <a:t>03 / 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914400" cy="41148"/>
          </a:xfrm>
          <a:prstGeom prst="rect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71323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7C7C3"/>
                </a:solidFill>
                <a:latin typeface="Aptos"/>
              </a:rPr>
              <a:t>SMART GREENHOUSE  |  TI3042 · INACAP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0120"/>
            <a:ext cx="107899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4F8F6"/>
                </a:solidFill>
                <a:latin typeface="Aptos"/>
              </a:rPr>
              <a:t>Objetivo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572768"/>
            <a:ext cx="1060704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B7C7C3"/>
                </a:solidFill>
                <a:latin typeface="Aptos"/>
              </a:rPr>
              <a:t>Desarrollar una aplicación Android que permita configurar y supervisar el estado de iluminación de un invernadero, como base para una solución IoT conectada.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651760"/>
            <a:ext cx="52120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7BE82"/>
                </a:solidFill>
                <a:latin typeface="Aptos"/>
              </a:rPr>
              <a:t>Funcionalidades presentes en la interfaz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54680"/>
            <a:ext cx="5120640" cy="2286000"/>
          </a:xfrm>
          <a:prstGeom prst="rect">
            <a:avLst/>
          </a:prstGeom>
          <a:noFill/>
        </p:spPr>
        <p:txBody>
          <a:bodyPr wrap="square" lIns="36576" tIns="36576" rIns="36576" bIns="18288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4F8F6"/>
                </a:solidFill>
                <a:latin typeface="Aptos"/>
              </a:defRPr>
            </a:pPr>
            <a:r>
              <a:t>• Visualización de un nivel de iluminación.</a:t>
            </a:r>
          </a:p>
          <a:p>
            <a:pPr>
              <a:spcAft>
                <a:spcPts val="1000"/>
              </a:spcAft>
              <a:defRPr sz="1500">
                <a:solidFill>
                  <a:srgbClr val="F4F8F6"/>
                </a:solidFill>
                <a:latin typeface="Aptos"/>
              </a:defRPr>
            </a:pPr>
            <a:r>
              <a:t>• Selección de modo automático o manual.</a:t>
            </a:r>
          </a:p>
          <a:p>
            <a:pPr>
              <a:spcAft>
                <a:spcPts val="1000"/>
              </a:spcAft>
              <a:defRPr sz="1500">
                <a:solidFill>
                  <a:srgbClr val="F4F8F6"/>
                </a:solidFill>
                <a:latin typeface="Aptos"/>
              </a:defRPr>
            </a:pPr>
            <a:r>
              <a:t>• Ajuste del nivel desde la interfaz.</a:t>
            </a:r>
          </a:p>
          <a:p>
            <a:pPr>
              <a:spcAft>
                <a:spcPts val="1000"/>
              </a:spcAft>
              <a:defRPr sz="1500">
                <a:solidFill>
                  <a:srgbClr val="F4F8F6"/>
                </a:solidFill>
                <a:latin typeface="Aptos"/>
              </a:defRPr>
            </a:pPr>
            <a:r>
              <a:t>• Opción de conexión Bluetooth en la pantalla.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606040"/>
            <a:ext cx="5349240" cy="297180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2880360"/>
            <a:ext cx="47091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B7E6C7"/>
                </a:solidFill>
                <a:latin typeface="Aptos"/>
              </a:rPr>
              <a:t>Evolución propuesta con Firebase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3456432"/>
            <a:ext cx="4617720" cy="1737360"/>
          </a:xfrm>
          <a:prstGeom prst="rect">
            <a:avLst/>
          </a:prstGeom>
          <a:noFill/>
        </p:spPr>
        <p:txBody>
          <a:bodyPr wrap="square" lIns="36576" tIns="36576" rIns="36576" bIns="18288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F4F8F6"/>
                </a:solidFill>
                <a:latin typeface="Aptos"/>
              </a:defRPr>
            </a:pPr>
            <a:r>
              <a:t>• Inicio de sesión con Firebase Authentication.</a:t>
            </a:r>
          </a:p>
          <a:p>
            <a:pPr>
              <a:spcAft>
                <a:spcPts val="1100"/>
              </a:spcAft>
              <a:defRPr sz="1500">
                <a:solidFill>
                  <a:srgbClr val="F4F8F6"/>
                </a:solidFill>
                <a:latin typeface="Aptos"/>
              </a:defRPr>
            </a:pPr>
            <a:r>
              <a:t>• Sincronización del estado con Realtime Database.</a:t>
            </a:r>
          </a:p>
          <a:p>
            <a:pPr>
              <a:spcAft>
                <a:spcPts val="1100"/>
              </a:spcAft>
              <a:defRPr sz="1500">
                <a:solidFill>
                  <a:srgbClr val="F4F8F6"/>
                </a:solidFill>
                <a:latin typeface="Aptos"/>
              </a:defRPr>
            </a:pPr>
            <a:r>
              <a:t>• Consulta de datos desde dos teléfonos Android.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8046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7BE82"/>
                </a:solidFill>
                <a:latin typeface="Aptos"/>
              </a:rPr>
              <a:t>TECNOLOGÍAS Y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56032"/>
            <a:ext cx="6400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B7C7C3"/>
                </a:solidFill>
                <a:latin typeface="Aptos"/>
              </a:rPr>
              <a:t>04 / 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914400" cy="41148"/>
          </a:xfrm>
          <a:prstGeom prst="rect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71323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7C7C3"/>
                </a:solidFill>
                <a:latin typeface="Aptos"/>
              </a:rPr>
              <a:t>SMART GREENHOUSE  |  TI3042 · INACAP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0120"/>
            <a:ext cx="107899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4F8F6"/>
                </a:solidFill>
                <a:latin typeface="Aptos"/>
              </a:rPr>
              <a:t>¿Cómo se plantea la solución?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2240280" cy="114300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2221992"/>
            <a:ext cx="2020824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57BE82"/>
                </a:solidFill>
                <a:latin typeface="Aptos"/>
              </a:rPr>
              <a:t>Teléfono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624328"/>
            <a:ext cx="2020824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7C7C3"/>
                </a:solidFill>
                <a:latin typeface="Aptos"/>
              </a:rPr>
              <a:t>Control de iluminación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057400"/>
            <a:ext cx="2240280" cy="114300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47288" y="2221992"/>
            <a:ext cx="2020824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57BE82"/>
                </a:solidFill>
                <a:latin typeface="Aptos"/>
              </a:rPr>
              <a:t>Firebase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624328"/>
            <a:ext cx="2020824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7C7C3"/>
                </a:solidFill>
                <a:latin typeface="Aptos"/>
              </a:rPr>
              <a:t>Identidad y acceso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2057400"/>
            <a:ext cx="2240280" cy="114300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2221992"/>
            <a:ext cx="2020824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57BE82"/>
                </a:solidFill>
                <a:latin typeface="Aptos"/>
              </a:rPr>
              <a:t>Realtime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624328"/>
            <a:ext cx="2020824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7C7C3"/>
                </a:solidFill>
                <a:latin typeface="Aptos"/>
              </a:rPr>
              <a:t>Estado compartido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95944" y="2057400"/>
            <a:ext cx="2606040" cy="114300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05672" y="2221992"/>
            <a:ext cx="2386584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57BE82"/>
                </a:solidFill>
                <a:latin typeface="Aptos"/>
              </a:rPr>
              <a:t>Teléfono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2624328"/>
            <a:ext cx="2386584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7C7C3"/>
                </a:solidFill>
                <a:latin typeface="Aptos"/>
              </a:rPr>
              <a:t>Monitoreo sincronizado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2395728"/>
            <a:ext cx="34747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B7E6C7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2395728"/>
            <a:ext cx="34747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B7E6C7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395728"/>
            <a:ext cx="34747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B7E6C7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794760"/>
            <a:ext cx="50749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7BE82"/>
                </a:solidFill>
                <a:latin typeface="Aptos"/>
              </a:rPr>
              <a:t>Herramientas previstas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251960"/>
            <a:ext cx="4983480" cy="1417320"/>
          </a:xfrm>
          <a:prstGeom prst="rect">
            <a:avLst/>
          </a:prstGeom>
          <a:noFill/>
        </p:spPr>
        <p:txBody>
          <a:bodyPr wrap="square" lIns="36576" tIns="36576" rIns="36576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4F8F6"/>
                </a:solidFill>
                <a:latin typeface="Aptos"/>
              </a:defRPr>
            </a:pPr>
            <a:r>
              <a:t>• Android Studio y Kotlin.</a:t>
            </a:r>
          </a:p>
          <a:p>
            <a:pPr>
              <a:spcAft>
                <a:spcPts val="700"/>
              </a:spcAft>
              <a:defRPr sz="1400">
                <a:solidFill>
                  <a:srgbClr val="F4F8F6"/>
                </a:solidFill>
                <a:latin typeface="Aptos"/>
              </a:defRPr>
            </a:pPr>
            <a:r>
              <a:t>• Jetpack Compose para la interfaz.</a:t>
            </a:r>
          </a:p>
          <a:p>
            <a:pPr>
              <a:spcAft>
                <a:spcPts val="700"/>
              </a:spcAft>
              <a:defRPr sz="1400">
                <a:solidFill>
                  <a:srgbClr val="F4F8F6"/>
                </a:solidFill>
                <a:latin typeface="Aptos"/>
              </a:defRPr>
            </a:pPr>
            <a:r>
              <a:t>• Firebase Authentication y Realtime Database.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794760"/>
            <a:ext cx="47548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7BE82"/>
                </a:solidFill>
                <a:latin typeface="Aptos"/>
              </a:rPr>
              <a:t>Conectividad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251960"/>
            <a:ext cx="4754880" cy="881267"/>
          </a:xfrm>
          <a:prstGeom prst="rect">
            <a:avLst/>
          </a:prstGeom>
          <a:noFill/>
        </p:spPr>
        <p:txBody>
          <a:bodyPr wrap="square" lIns="36576" tIns="36576" rIns="36576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4F8F6"/>
                </a:solidFill>
                <a:latin typeface="Aptos"/>
              </a:defRPr>
            </a:pPr>
            <a:r>
              <a:rPr dirty="0"/>
              <a:t>• </a:t>
            </a:r>
            <a:r>
              <a:rPr lang="es-CL" dirty="0"/>
              <a:t> S</a:t>
            </a:r>
            <a:r>
              <a:rPr dirty="0" err="1"/>
              <a:t>incronización</a:t>
            </a:r>
            <a:r>
              <a:rPr dirty="0"/>
              <a:t> con Firebase.</a:t>
            </a:r>
          </a:p>
          <a:p>
            <a:pPr>
              <a:spcAft>
                <a:spcPts val="700"/>
              </a:spcAft>
              <a:defRPr sz="1400">
                <a:solidFill>
                  <a:srgbClr val="F4F8F6"/>
                </a:solidFill>
                <a:latin typeface="Aptos"/>
              </a:defRPr>
            </a:pPr>
            <a:r>
              <a:rPr dirty="0"/>
              <a:t>• Los dos </a:t>
            </a:r>
            <a:r>
              <a:rPr dirty="0" err="1"/>
              <a:t>teléfonos</a:t>
            </a:r>
            <a:r>
              <a:rPr dirty="0"/>
              <a:t> </a:t>
            </a:r>
            <a:r>
              <a:rPr dirty="0" err="1"/>
              <a:t>deben</a:t>
            </a:r>
            <a:r>
              <a:rPr dirty="0"/>
              <a:t> </a:t>
            </a:r>
            <a:r>
              <a:rPr dirty="0" err="1"/>
              <a:t>tener</a:t>
            </a:r>
            <a:r>
              <a:rPr dirty="0"/>
              <a:t> </a:t>
            </a:r>
            <a:r>
              <a:rPr dirty="0" err="1"/>
              <a:t>acceso</a:t>
            </a:r>
            <a:r>
              <a:rPr dirty="0"/>
              <a:t> a Internet.</a:t>
            </a:r>
          </a:p>
          <a:p>
            <a:pPr>
              <a:spcAft>
                <a:spcPts val="700"/>
              </a:spcAft>
              <a:defRPr sz="1400">
                <a:solidFill>
                  <a:srgbClr val="F4F8F6"/>
                </a:solidFill>
                <a:latin typeface="Aptos"/>
              </a:defRPr>
            </a:pPr>
            <a:r>
              <a:rPr dirty="0"/>
              <a:t>• Bluetooth </a:t>
            </a:r>
            <a:r>
              <a:rPr dirty="0" err="1"/>
              <a:t>si</a:t>
            </a:r>
            <a:r>
              <a:rPr dirty="0"/>
              <a:t> se </a:t>
            </a:r>
            <a:r>
              <a:rPr dirty="0" err="1"/>
              <a:t>usa</a:t>
            </a:r>
            <a:r>
              <a:rPr lang="es-CL" dirty="0"/>
              <a:t> como método alternativo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8046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7BE82"/>
                </a:solidFill>
                <a:latin typeface="Aptos"/>
              </a:rPr>
              <a:t>SEGURIDAD Y ALMACENAMIENTO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56032"/>
            <a:ext cx="6400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B7C7C3"/>
                </a:solidFill>
                <a:latin typeface="Aptos"/>
              </a:rPr>
              <a:t>05 / 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914400" cy="41148"/>
          </a:xfrm>
          <a:prstGeom prst="rect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71323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7C7C3"/>
                </a:solidFill>
                <a:latin typeface="Aptos"/>
              </a:rPr>
              <a:t>SMART GREENHOUSE  |  TI3042 · INACAP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0120"/>
            <a:ext cx="107899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4F8F6"/>
                </a:solidFill>
                <a:latin typeface="Aptos"/>
              </a:rPr>
              <a:t>Seguridad desde el diseño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5166360" cy="118872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975104"/>
            <a:ext cx="47091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7BE82"/>
                </a:solidFill>
                <a:latin typeface="Aptos"/>
              </a:rPr>
              <a:t>Autenticación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31720"/>
            <a:ext cx="47091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8F6"/>
                </a:solidFill>
                <a:latin typeface="Aptos"/>
              </a:rPr>
              <a:t>Validar la identidad del usuario con Firebase Authentication.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828800"/>
            <a:ext cx="5166360" cy="118872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975104"/>
            <a:ext cx="47091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7BE82"/>
                </a:solidFill>
                <a:latin typeface="Aptos"/>
              </a:rPr>
              <a:t>Reglas de acceso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331720"/>
            <a:ext cx="47091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8F6"/>
                </a:solidFill>
                <a:latin typeface="Aptos"/>
              </a:rPr>
              <a:t>Restringir lectura y escritura a usuarios autorizados y a sus datos.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37560"/>
            <a:ext cx="5166360" cy="118872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3483864"/>
            <a:ext cx="47091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7BE82"/>
                </a:solidFill>
                <a:latin typeface="Aptos"/>
              </a:rPr>
              <a:t>Transporte seguro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840480"/>
            <a:ext cx="47091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8F6"/>
                </a:solidFill>
                <a:latin typeface="Aptos"/>
              </a:rPr>
              <a:t>Usar los mecanismos seguros de comunicación proporcionados por Firebase.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3337560"/>
            <a:ext cx="5166360" cy="118872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3483864"/>
            <a:ext cx="47091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7BE82"/>
                </a:solidFill>
                <a:latin typeface="Aptos"/>
              </a:rPr>
              <a:t>Buenas prácticas IoT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840480"/>
            <a:ext cx="47091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8F6"/>
                </a:solidFill>
                <a:latin typeface="Aptos"/>
              </a:rPr>
              <a:t>Tomar ISO 27400 como referencia para gestionar riesgos, accesos y protección de datos.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166360"/>
            <a:ext cx="106070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7C7C3"/>
                </a:solidFill>
                <a:latin typeface="Aptos"/>
              </a:rPr>
              <a:t>Almacenamiento previsto: guardar el estado y las mediciones disponibles para consultarlos posteriormente.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8046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7BE82"/>
                </a:solidFill>
                <a:latin typeface="Aptos"/>
              </a:rPr>
              <a:t>VALIDACIÓN Y 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56032"/>
            <a:ext cx="6400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B7C7C3"/>
                </a:solidFill>
                <a:latin typeface="Aptos"/>
              </a:rPr>
              <a:t>06 / 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914400" cy="41148"/>
          </a:xfrm>
          <a:prstGeom prst="rect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71323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7C7C3"/>
                </a:solidFill>
                <a:latin typeface="Aptos"/>
              </a:rPr>
              <a:t>SMART GREENHOUSE  |  TI3042 · INACAP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0120"/>
            <a:ext cx="107899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4F8F6"/>
                </a:solidFill>
                <a:latin typeface="Aptos"/>
              </a:rPr>
              <a:t>¿Cómo se demostrará que funciona?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594360" cy="566928"/>
          </a:xfrm>
          <a:prstGeom prst="roundRect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837943"/>
            <a:ext cx="594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C171D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55648"/>
            <a:ext cx="2057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8F6"/>
                </a:solidFill>
                <a:latin typeface="Aptos"/>
              </a:rPr>
              <a:t>Autenticación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755648"/>
            <a:ext cx="768096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7C7C3"/>
                </a:solidFill>
                <a:latin typeface="Aptos"/>
              </a:rPr>
              <a:t>Probar registro, inicio de sesión y rechazo de credenciales incorrectas.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633472"/>
            <a:ext cx="594360" cy="566928"/>
          </a:xfrm>
          <a:prstGeom prst="roundRect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734056"/>
            <a:ext cx="594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C171D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651760"/>
            <a:ext cx="2057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8F6"/>
                </a:solidFill>
                <a:latin typeface="Aptos"/>
              </a:rPr>
              <a:t>Dos dispositivos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651760"/>
            <a:ext cx="768096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7C7C3"/>
                </a:solidFill>
                <a:latin typeface="Aptos"/>
              </a:rPr>
              <a:t>Cambiar el estado en un teléfono y comprobar la actualización en el otro.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529584"/>
            <a:ext cx="594360" cy="566928"/>
          </a:xfrm>
          <a:prstGeom prst="roundRect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630168"/>
            <a:ext cx="594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C171D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547872"/>
            <a:ext cx="2057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8F6"/>
                </a:solidFill>
                <a:latin typeface="Aptos"/>
              </a:rPr>
              <a:t>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547872"/>
            <a:ext cx="768096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7C7C3"/>
                </a:solidFill>
                <a:latin typeface="Aptos"/>
              </a:rPr>
              <a:t>Verificar guardado, lectura y persistencia del historial.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425696"/>
            <a:ext cx="594360" cy="566928"/>
          </a:xfrm>
          <a:prstGeom prst="roundRect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4526280"/>
            <a:ext cx="594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C171D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443983"/>
            <a:ext cx="2057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8F6"/>
                </a:solidFill>
                <a:latin typeface="Aptos"/>
              </a:rPr>
              <a:t>Seguridad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443983"/>
            <a:ext cx="768096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7C7C3"/>
                </a:solidFill>
                <a:latin typeface="Aptos"/>
              </a:rPr>
              <a:t>Revisar reglas de base de datos y accesos no autorizados.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5559552"/>
            <a:ext cx="10744200" cy="621792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696712"/>
            <a:ext cx="103327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7E6C7"/>
                </a:solidFill>
                <a:latin typeface="Aptos"/>
              </a:rPr>
              <a:t>Meta: APK funcional, pruebas documentadas y enlace al repositorio GitHub para la entrega.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6245352"/>
            <a:ext cx="10607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7C7C3"/>
                </a:solidFill>
                <a:latin typeface="Aptos"/>
              </a:rPr>
              <a:t>La demostración final debe realizarse en dispositivos Android y respaldarse con evidencias reales.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516</Words>
  <Application>Microsoft Office PowerPoint</Application>
  <PresentationFormat>Panorámica</PresentationFormat>
  <Paragraphs>88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GREENHOUSE - TI3042 INACAP</dc:title>
  <dc:subject>Presentación general del proyecto IoT</dc:subject>
  <dc:creator>Proyecto académico</dc:creator>
  <cp:keywords>SMART GREENHOUSE, TI3042, INACAP, Android, Firebase, IoT</cp:keywords>
  <dc:description>generated using python-pptx</dc:description>
  <cp:lastModifiedBy>IGNACIO JAVIER PEREZ HERRERA</cp:lastModifiedBy>
  <cp:revision>2</cp:revision>
  <dcterms:created xsi:type="dcterms:W3CDTF">2013-01-27T09:14:16Z</dcterms:created>
  <dcterms:modified xsi:type="dcterms:W3CDTF">2026-10-28T06:22:42Z</dcterms:modified>
  <cp:category/>
</cp:coreProperties>
</file>