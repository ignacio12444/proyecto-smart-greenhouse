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8732520" y="1143000"/>
            <a:ext cx="32004" cy="4160520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46920" y="1143000"/>
            <a:ext cx="32004" cy="4160520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143000"/>
            <a:ext cx="32004" cy="4160520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75720" y="1143000"/>
            <a:ext cx="32004" cy="4160520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03920" y="1417320"/>
            <a:ext cx="3337560" cy="27432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03920" y="2514600"/>
            <a:ext cx="3337560" cy="27432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03920" y="3611880"/>
            <a:ext cx="3337560" cy="27432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03920" y="4709160"/>
            <a:ext cx="3337560" cy="27432"/>
          </a:xfrm>
          <a:prstGeom prst="rect">
            <a:avLst/>
          </a:prstGeom>
          <a:solidFill>
            <a:srgbClr val="365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0" y="4251960"/>
            <a:ext cx="50292" cy="1097280"/>
          </a:xfrm>
          <a:prstGeom prst="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23960" y="4416552"/>
            <a:ext cx="438912" cy="182880"/>
          </a:xfrm>
          <a:prstGeom prst="ellipse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62288" y="4617720"/>
            <a:ext cx="438912" cy="182880"/>
          </a:xfrm>
          <a:prstGeom prst="ellipse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058400" y="3657600"/>
            <a:ext cx="50292" cy="1261872"/>
          </a:xfrm>
          <a:prstGeom prst="rect">
            <a:avLst/>
          </a:prstGeom>
          <a:solidFill>
            <a:srgbClr val="B7E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90354" y="3846880"/>
            <a:ext cx="504748" cy="210311"/>
          </a:xfrm>
          <a:prstGeom prst="ellipse">
            <a:avLst/>
          </a:prstGeom>
          <a:solidFill>
            <a:srgbClr val="B7E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76688" y="4078224"/>
            <a:ext cx="504748" cy="210311"/>
          </a:xfrm>
          <a:prstGeom prst="ellipse">
            <a:avLst/>
          </a:prstGeom>
          <a:solidFill>
            <a:srgbClr val="B7E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72800" y="4343400"/>
            <a:ext cx="50292" cy="987552"/>
          </a:xfrm>
          <a:prstGeom prst="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684764" y="4491532"/>
            <a:ext cx="395020" cy="164592"/>
          </a:xfrm>
          <a:prstGeom prst="ellipse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991088" y="4672584"/>
            <a:ext cx="395020" cy="164592"/>
          </a:xfrm>
          <a:prstGeom prst="ellipse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469880" y="4892040"/>
            <a:ext cx="50292" cy="877824"/>
          </a:xfrm>
          <a:prstGeom prst="rect">
            <a:avLst/>
          </a:prstGeom>
          <a:solidFill>
            <a:srgbClr val="5AA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213848" y="5023713"/>
            <a:ext cx="351129" cy="146304"/>
          </a:xfrm>
          <a:prstGeom prst="ellipse">
            <a:avLst/>
          </a:prstGeom>
          <a:solidFill>
            <a:srgbClr val="5AA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488167" y="5184648"/>
            <a:ext cx="351129" cy="146304"/>
          </a:xfrm>
          <a:prstGeom prst="ellipse">
            <a:avLst/>
          </a:prstGeom>
          <a:solidFill>
            <a:srgbClr val="5AA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1234440"/>
            <a:ext cx="67665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7BE82"/>
                </a:solidFill>
                <a:latin typeface="Aptos"/>
              </a:rPr>
              <a:t>PROYECTO DE APLICACIÓN MÓVIL IoT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874519"/>
            <a:ext cx="6949440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F4F8F6"/>
                </a:solidFill>
                <a:latin typeface="Aptos"/>
              </a:rPr>
              <a:t>SMART
GREENHOUSE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657600"/>
            <a:ext cx="658368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B7E6C7"/>
                </a:solidFill>
                <a:latin typeface="Aptos"/>
              </a:rPr>
              <a:t>Control y monitoreo de iluminación para un invernadero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62179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7C7C3"/>
                </a:solidFill>
                <a:latin typeface="Aptos"/>
              </a:rPr>
              <a:t>TI3042 · Aplicaciones Móviles para IoT
INACAP | Unidad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7BE82"/>
                </a:solidFill>
                <a:latin typeface="Aptos"/>
              </a:rPr>
              <a:t>CONTEXTO Y PROBLEMÁTICA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640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02 /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914400" cy="41148"/>
          </a:xfrm>
          <a:prstGeom prst="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1323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7C7C3"/>
                </a:solidFill>
                <a:latin typeface="Aptos"/>
              </a:rPr>
              <a:t>SMART GREENHOUSE  |  TI3042 · INACAP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10789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4F8F6"/>
                </a:solidFill>
                <a:latin typeface="Aptos"/>
              </a:rPr>
              <a:t>¿Qué problema busca resolver?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664208"/>
            <a:ext cx="1051560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B7C7C3"/>
                </a:solidFill>
                <a:latin typeface="Aptos"/>
              </a:rPr>
              <a:t>El proyecto se centra en facilitar el control y la supervisión de la iluminación de un invernadero desde una aplicación Android.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743200"/>
            <a:ext cx="3456432" cy="214884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7BE8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30175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4F8F6"/>
                </a:solidFill>
                <a:latin typeface="Aptos"/>
              </a:rPr>
              <a:t>Control centralizado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2999232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7C7C3"/>
                </a:solidFill>
                <a:latin typeface="Aptos"/>
              </a:rPr>
              <a:t>Reunir en una interfaz las opciones de modo y nivel de iluminación.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983" y="2743200"/>
            <a:ext cx="3456432" cy="214884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1" y="2944368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7BE8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3337560"/>
            <a:ext cx="30175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4F8F6"/>
                </a:solidFill>
                <a:latin typeface="Aptos"/>
              </a:rPr>
              <a:t>Monitoreo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1" y="3886200"/>
            <a:ext cx="2999232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7C7C3"/>
                </a:solidFill>
                <a:latin typeface="Aptos"/>
              </a:rPr>
              <a:t>Mostrar el estado configurado de iluminación para apoyar la supervisión.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2743200"/>
            <a:ext cx="3456432" cy="214884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944368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7BE82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337560"/>
            <a:ext cx="30175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4F8F6"/>
                </a:solidFill>
                <a:latin typeface="Aptos"/>
              </a:rPr>
              <a:t>Conectividad IoT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3886200"/>
            <a:ext cx="2999232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7C7C3"/>
                </a:solidFill>
                <a:latin typeface="Aptos"/>
              </a:rPr>
              <a:t>Proyectar la sincronización del estado entre dispositivos mediante una solución inalámbrica.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349240"/>
            <a:ext cx="1051560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E8BE5F"/>
                </a:solidFill>
                <a:latin typeface="Aptos"/>
              </a:rPr>
              <a:t>Alcance actual: interfaz de control las mediciones físicas y el control de hardware requieren integración adicional.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925312"/>
            <a:ext cx="10515600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dirty="0">
                <a:solidFill>
                  <a:srgbClr val="F1F5F1"/>
                </a:solidFill>
                <a:latin typeface="Aptos"/>
              </a:rPr>
              <a:t>Alcance actual: los controles funcionan localmente no hay sincronización entre dispositivos ni conexión física implementada.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7BE82"/>
                </a:solidFill>
                <a:latin typeface="Aptos"/>
              </a:rPr>
              <a:t>OBJETIVOS Y 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640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03 /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914400" cy="41148"/>
          </a:xfrm>
          <a:prstGeom prst="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1323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7C7C3"/>
                </a:solidFill>
                <a:latin typeface="Aptos"/>
              </a:rPr>
              <a:t>SMART GREENHOUSE  |  TI3042 · INACAP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107899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4F8F6"/>
                </a:solidFill>
                <a:latin typeface="Aptos"/>
              </a:rP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572768"/>
            <a:ext cx="1060704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B7C7C3"/>
                </a:solidFill>
                <a:latin typeface="Aptos"/>
              </a:rPr>
              <a:t>Desarrollar una aplicación Android que permita configurar y supervisar el estado de iluminación de un invernadero, como base para una solución IoT conectada.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51760"/>
            <a:ext cx="52120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7BE82"/>
                </a:solidFill>
                <a:latin typeface="Aptos"/>
              </a:rPr>
              <a:t>Funcionalidades presentes en la interfaz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54680"/>
            <a:ext cx="5120640" cy="2286000"/>
          </a:xfrm>
          <a:prstGeom prst="rect">
            <a:avLst/>
          </a:prstGeom>
          <a:noFill/>
        </p:spPr>
        <p:txBody>
          <a:bodyPr wrap="square" lIns="36576" tIns="36576" rIns="36576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4F8F6"/>
                </a:solidFill>
                <a:latin typeface="Aptos"/>
              </a:defRPr>
            </a:pPr>
            <a:r>
              <a:t>• Visualización de un nivel de iluminación.</a:t>
            </a:r>
          </a:p>
          <a:p>
            <a:pPr>
              <a:spcAft>
                <a:spcPts val="1000"/>
              </a:spcAft>
              <a:defRPr sz="1500">
                <a:solidFill>
                  <a:srgbClr val="F4F8F6"/>
                </a:solidFill>
                <a:latin typeface="Aptos"/>
              </a:defRPr>
            </a:pPr>
            <a:r>
              <a:t>• Selección de modo automático o manual.</a:t>
            </a:r>
          </a:p>
          <a:p>
            <a:pPr>
              <a:spcAft>
                <a:spcPts val="1000"/>
              </a:spcAft>
              <a:defRPr sz="1500">
                <a:solidFill>
                  <a:srgbClr val="F4F8F6"/>
                </a:solidFill>
                <a:latin typeface="Aptos"/>
              </a:defRPr>
            </a:pPr>
            <a:r>
              <a:t>• Ajuste del nivel desde la interfaz.</a:t>
            </a:r>
          </a:p>
          <a:p>
            <a:pPr>
              <a:spcAft>
                <a:spcPts val="1000"/>
              </a:spcAft>
              <a:defRPr sz="1500">
                <a:solidFill>
                  <a:srgbClr val="F4F8F6"/>
                </a:solidFill>
                <a:latin typeface="Aptos"/>
              </a:defRPr>
            </a:pPr>
            <a:r>
              <a:t>• Opción de conexión Bluetooth en la pantalla.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606040"/>
            <a:ext cx="5349240" cy="297180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880360"/>
            <a:ext cx="4709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Alcance de esta versión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456432"/>
            <a:ext cx="4617720" cy="1737360"/>
          </a:xfrm>
          <a:prstGeom prst="rect">
            <a:avLst/>
          </a:prstGeom>
          <a:noFill/>
        </p:spPr>
        <p:txBody>
          <a:bodyPr wrap="square" lIns="36576" tIns="36576" rIns="36576" bIns="18288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4F8F6"/>
                </a:solidFill>
                <a:latin typeface="Aptos"/>
              </a:defRPr>
            </a:pPr>
            <a:r>
              <a:rPr sz="1500">
                <a:solidFill>
                  <a:srgbClr val="F1F5F1"/>
                </a:solidFill>
                <a:latin typeface="Aptos"/>
              </a:rPr>
              <a:t>• Controles de iluminación simulados en la interfaz.</a:t>
            </a:r>
            <a:br/>
            <a:r>
              <a:rPr sz="1500">
                <a:solidFill>
                  <a:srgbClr val="F1F5F1"/>
                </a:solidFill>
                <a:latin typeface="Aptos"/>
              </a:rPr>
              <a:t>• Navegación entre Inicio, Datos, Conexiones y Ajustes.</a:t>
            </a:r>
            <a:br/>
            <a:r>
              <a:rPr sz="1500">
                <a:solidFill>
                  <a:srgbClr val="F1F5F1"/>
                </a:solidFill>
                <a:latin typeface="Aptos"/>
              </a:rPr>
              <a:t>• Bluetooth mostrado como demostración visual, sin emparejamiento real.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06440"/>
            <a:ext cx="10698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No se utiliza Firebase en esta versión. No hay inicio de sesión, sincronización ni almacenamiento remoto implementados.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7BE82"/>
                </a:solidFill>
                <a:latin typeface="Aptos"/>
              </a:rPr>
              <a:t>TECNOLOGÍAS Y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640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04 /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914400" cy="41148"/>
          </a:xfrm>
          <a:prstGeom prst="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1323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7C7C3"/>
                </a:solidFill>
                <a:latin typeface="Aptos"/>
              </a:rPr>
              <a:t>SMART GREENHOUSE  |  TI3042 · INACAP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107899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4F8F6"/>
                </a:solidFill>
                <a:latin typeface="Aptos"/>
              </a:rPr>
              <a:t>¿Cómo se plantea la solución?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2240280" cy="114300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221992"/>
            <a:ext cx="202082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7BE82"/>
                </a:solidFill>
                <a:latin typeface="Aptos"/>
              </a:rPr>
              <a:t>Teléfono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624328"/>
            <a:ext cx="2020824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7C7C3"/>
                </a:solidFill>
                <a:latin typeface="Aptos"/>
              </a:rPr>
              <a:t>Control de iluminación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57400"/>
            <a:ext cx="2240280" cy="114300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7288" y="2221992"/>
            <a:ext cx="202082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Interfaz Android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624328"/>
            <a:ext cx="2020824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Controles locales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2057400"/>
            <a:ext cx="2240280" cy="114300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2221992"/>
            <a:ext cx="202082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Estados Compose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624328"/>
            <a:ext cx="2020824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Valores en memoria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95944" y="2057400"/>
            <a:ext cx="2606040" cy="114300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05672" y="2221992"/>
            <a:ext cx="2386584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7BE82"/>
                </a:solidFill>
                <a:latin typeface="Aptos"/>
              </a:rPr>
              <a:t>Teléfono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2624328"/>
            <a:ext cx="2386584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Consulta visual 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395728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7E6C7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395728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7E6C7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395728"/>
            <a:ext cx="34747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7E6C7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794760"/>
            <a:ext cx="50749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7BE82"/>
                </a:solidFill>
                <a:latin typeface="Aptos"/>
              </a:rPr>
              <a:t>Herramientas previstas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51960"/>
            <a:ext cx="4983480" cy="1417320"/>
          </a:xfrm>
          <a:prstGeom prst="rect">
            <a:avLst/>
          </a:prstGeom>
          <a:noFill/>
        </p:spPr>
        <p:txBody>
          <a:bodyPr wrap="square" lIns="36576" tIns="36576" rIns="36576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4F8F6"/>
                </a:solidFill>
                <a:latin typeface="Aptos"/>
              </a:defRPr>
            </a:pPr>
            <a:r>
              <a:rPr sz="1500">
                <a:solidFill>
                  <a:srgbClr val="F1F5F1"/>
                </a:solidFill>
                <a:latin typeface="Aptos"/>
              </a:rPr>
              <a:t>• Android Studio y Kotlin.</a:t>
            </a:r>
            <a:br/>
            <a:r>
              <a:rPr sz="1500">
                <a:solidFill>
                  <a:srgbClr val="F1F5F1"/>
                </a:solidFill>
                <a:latin typeface="Aptos"/>
              </a:rPr>
              <a:t>• Jetpack Compose para la interfaz.</a:t>
            </a:r>
            <a:br/>
            <a:r>
              <a:rPr sz="1500">
                <a:solidFill>
                  <a:srgbClr val="F1F5F1"/>
                </a:solidFill>
                <a:latin typeface="Aptos"/>
              </a:rPr>
              <a:t>• Estados locales de Compose para actualizar los controles.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794760"/>
            <a:ext cx="47548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7BE82"/>
                </a:solidFill>
                <a:latin typeface="Aptos"/>
              </a:rPr>
              <a:t>Conectividad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251960"/>
            <a:ext cx="4754880" cy="1417320"/>
          </a:xfrm>
          <a:prstGeom prst="rect">
            <a:avLst/>
          </a:prstGeom>
          <a:noFill/>
        </p:spPr>
        <p:txBody>
          <a:bodyPr wrap="square" lIns="36576" tIns="36576" rIns="36576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4F8F6"/>
                </a:solidFill>
                <a:latin typeface="Aptos"/>
              </a:defRPr>
            </a:pPr>
            <a:r>
              <a:rPr sz="1500">
                <a:solidFill>
                  <a:srgbClr val="F1F5F1"/>
                </a:solidFill>
                <a:latin typeface="Aptos"/>
              </a:rPr>
              <a:t>• Esta versión no utiliza Firebase ni Wi-Fi para sincronizar datos.</a:t>
            </a:r>
            <a:br/>
            <a:r>
              <a:rPr sz="1500">
                <a:solidFill>
                  <a:srgbClr val="F1F5F1"/>
                </a:solidFill>
                <a:latin typeface="Aptos"/>
              </a:rPr>
              <a:t>• El botón Bluetooth es solo demostrativo.</a:t>
            </a:r>
            <a:br/>
            <a:r>
              <a:rPr sz="1500">
                <a:solidFill>
                  <a:srgbClr val="F1F5F1"/>
                </a:solidFill>
                <a:latin typeface="Aptos"/>
              </a:rPr>
              <a:t>• La comunicación física requiere implementación adicional.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943600"/>
            <a:ext cx="106984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La versión actual es una interfaz local de demostración; no se ha validado comunicación con hardware ni con un segundo teléfono.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7BE82"/>
                </a:solidFill>
                <a:latin typeface="Aptos"/>
              </a:rPr>
              <a:t>SEGURIDAD Y ALMACENAMIENTO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640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05 /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914400" cy="41148"/>
          </a:xfrm>
          <a:prstGeom prst="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1323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7C7C3"/>
                </a:solidFill>
                <a:latin typeface="Aptos"/>
              </a:rPr>
              <a:t>SMART GREENHOUSE  |  TI3042 · INACAP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107899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4F8F6"/>
                </a:solidFill>
                <a:latin typeface="Aptos"/>
              </a:rPr>
              <a:t>Seguridad desde el diseño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166360" cy="118872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4709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Interfaz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31720"/>
            <a:ext cx="4709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No hay autenticación implementada en esta versión. Debe añadirse antes de usar datos personales o controles remotos.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828800"/>
            <a:ext cx="5166360" cy="118872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975104"/>
            <a:ext cx="4709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7BE82"/>
                </a:solidFill>
                <a:latin typeface="Aptos"/>
              </a:rPr>
              <a:t>Reglas de acceso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31720"/>
            <a:ext cx="4709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Los controles solo modifican estados locales de la aplicación; no existen reglas de acceso a una base de datos.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37560"/>
            <a:ext cx="5166360" cy="118872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483864"/>
            <a:ext cx="4709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7BE82"/>
                </a:solidFill>
                <a:latin typeface="Aptos"/>
              </a:rPr>
              <a:t>Transporte seguro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840480"/>
            <a:ext cx="4709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No hay comunicación de red implementada en esta versión.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3337560"/>
            <a:ext cx="5166360" cy="1188720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3483864"/>
            <a:ext cx="4709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7BE82"/>
                </a:solidFill>
                <a:latin typeface="Aptos"/>
              </a:rPr>
              <a:t>Buenas prácticas IoT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840480"/>
            <a:ext cx="47091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8F6"/>
                </a:solidFill>
                <a:latin typeface="Aptos"/>
              </a:rPr>
              <a:t>Tomar ISO 27400 como referencia para gestionar riesgos, accesos y protección de datos.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166360"/>
            <a:ext cx="106070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Los valores se mantienen en memoria mientras se usa la pantalla; no hay persistencia ni historial guardado.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833872"/>
            <a:ext cx="106070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La seguridad debe ampliarse antes de conectar equipos reales. No se afirma cumplimiento certificado de ISO 27400.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7BE82"/>
                </a:solidFill>
                <a:latin typeface="Aptos"/>
              </a:rPr>
              <a:t>VALIDACIÓN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640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06 /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914400" cy="41148"/>
          </a:xfrm>
          <a:prstGeom prst="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1323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7C7C3"/>
                </a:solidFill>
                <a:latin typeface="Aptos"/>
              </a:rPr>
              <a:t>SMART GREENHOUSE  |  TI3042 · INACAP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107899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4F8F6"/>
                </a:solidFill>
                <a:latin typeface="Aptos"/>
              </a:rPr>
              <a:t>¿Cómo se demostrará que funciona?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94360" cy="566928"/>
          </a:xfrm>
          <a:prstGeom prst="round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837943"/>
            <a:ext cx="594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C171D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55648"/>
            <a:ext cx="2057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Interfaz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55648"/>
            <a:ext cx="76809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Comprobar que los controles de iluminación y modo actualizan sus valores en pantalla.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633472"/>
            <a:ext cx="594360" cy="566928"/>
          </a:xfrm>
          <a:prstGeom prst="round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734056"/>
            <a:ext cx="594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C171D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51760"/>
            <a:ext cx="2057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Bluetooth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51760"/>
            <a:ext cx="76809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Verificar que el botón se identifica como demostrativo y que no se afirma conexión física real.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529584"/>
            <a:ext cx="594360" cy="566928"/>
          </a:xfrm>
          <a:prstGeom prst="round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630168"/>
            <a:ext cx="594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C171D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47872"/>
            <a:ext cx="2057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Navegación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547872"/>
            <a:ext cx="76809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Abrir las cuatro secciones y comprobar que se muestran los datos locales de los controles.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425696"/>
            <a:ext cx="594360" cy="566928"/>
          </a:xfrm>
          <a:prstGeom prst="roundRect">
            <a:avLst/>
          </a:prstGeom>
          <a:solidFill>
            <a:srgbClr val="57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526280"/>
            <a:ext cx="594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C171D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443983"/>
            <a:ext cx="20574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Alcance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443983"/>
            <a:ext cx="76809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Documentar que no hay base de datos, autenticación ni comunicación física en esta versión.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157215"/>
            <a:ext cx="10744200" cy="621792"/>
          </a:xfrm>
          <a:prstGeom prst="roundRect">
            <a:avLst/>
          </a:prstGeom>
          <a:solidFill>
            <a:srgbClr val="172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6048" y="5276089"/>
            <a:ext cx="103327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>
                <a:solidFill>
                  <a:srgbClr val="F1F5F1"/>
                </a:solidFill>
                <a:latin typeface="Aptos"/>
              </a:rPr>
              <a:t>Meta: APK de demostración, capturas reales de ejecución y documentación de las funciones pendientes.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66BB6A"/>
                </a:solidFill>
                <a:latin typeface="Aptos"/>
              </a:rPr>
              <a:t>EVIDENCIA 1 · ESTADOS DE LA APLICACIÓN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DB8AD"/>
                </a:solidFill>
                <a:latin typeface="Aptos"/>
              </a:rPr>
              <a:t>Variables locales que mantienen el estado visible de los controles.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051560"/>
            <a:ext cx="1920240" cy="384048"/>
          </a:xfrm>
          <a:prstGeom prst="roundRect">
            <a:avLst/>
          </a:prstGeom>
          <a:solidFill>
            <a:srgbClr val="1B281D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BB6A"/>
                </a:solidFill>
                <a:latin typeface="Aptos"/>
              </a:rPr>
              <a:t>MainActivity.kt  |  Kotlin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572768"/>
            <a:ext cx="10972800" cy="4343400"/>
          </a:xfrm>
          <a:prstGeom prst="roundRect">
            <a:avLst/>
          </a:prstGeom>
          <a:solidFill>
            <a:srgbClr val="0C120D"/>
          </a:solidFill>
          <a:ln>
            <a:solidFill>
              <a:srgbClr val="37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37160" rIns="109728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2BEF0"/>
                </a:solidFill>
                <a:latin typeface="Consolas"/>
              </a:rPr>
              <a:t>01  var intensidad by remember { mutableFloatStateOf(75f)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2BEF0"/>
                </a:solidFill>
                <a:latin typeface="Consolas"/>
              </a:rPr>
              <a:t>02  var lucesEncendidas by remember { mutableStateOf(true)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2BEF0"/>
                </a:solidFill>
                <a:latin typeface="Consolas"/>
              </a:rPr>
              <a:t>03  var modoAutomatico by remember { mutableStateOf(true)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2BEF0"/>
                </a:solidFill>
                <a:latin typeface="Consolas"/>
              </a:rPr>
              <a:t>04  var conexionBluetooth by remember { mutableStateOf(false)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2BEF0"/>
                </a:solidFill>
                <a:latin typeface="Consolas"/>
              </a:rPr>
              <a:t>05  var pantallaActual by remember { mutableStateOf("Inicio")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1675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DB8AD"/>
                </a:solidFill>
                <a:latin typeface="Aptos"/>
              </a:rPr>
              <a:t>Evidencia del código: los valores se administran con estados de Jetpack Compose. No se guardan en una base de datos.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1052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DB8AD"/>
                </a:solidFill>
                <a:latin typeface="Aptos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66BB6A"/>
                </a:solidFill>
                <a:latin typeface="Aptos"/>
              </a:rPr>
              <a:t>EVIDENCIA 2 · CONTROLES DE ILUMINACIÓN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DB8AD"/>
                </a:solidFill>
                <a:latin typeface="Aptos"/>
              </a:rPr>
              <a:t>El Slider y los Switch modifican los estados locales mediante sus callbacks.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051560"/>
            <a:ext cx="1920240" cy="384048"/>
          </a:xfrm>
          <a:prstGeom prst="roundRect">
            <a:avLst/>
          </a:prstGeom>
          <a:solidFill>
            <a:srgbClr val="1B281D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BB6A"/>
                </a:solidFill>
                <a:latin typeface="Aptos"/>
              </a:rPr>
              <a:t>MainActivity.kt  |  Kotlin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572768"/>
            <a:ext cx="10972800" cy="4343400"/>
          </a:xfrm>
          <a:prstGeom prst="roundRect">
            <a:avLst/>
          </a:prstGeom>
          <a:solidFill>
            <a:srgbClr val="0C120D"/>
          </a:solidFill>
          <a:ln>
            <a:solidFill>
              <a:srgbClr val="37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37160" rIns="109728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CD82"/>
                </a:solidFill>
                <a:latin typeface="Consolas"/>
              </a:rPr>
              <a:t>01  Slider(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02      value = intensidad,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03      onValueChange = { intensidad = it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04      valueRange = 0f..100f,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05      enabled = lucesEncendidas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06  )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07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CD82"/>
                </a:solidFill>
                <a:latin typeface="Consolas"/>
              </a:rPr>
              <a:t>08  Switch(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09      checked = lucesEncendidas,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10      onCheckedChange = { lucesEncendidas = it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11  )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12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CD82"/>
                </a:solidFill>
                <a:latin typeface="Consolas"/>
              </a:rPr>
              <a:t>13  Switch(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14      checked = modoAutomatico,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15      onCheckedChange = { modoAutomatico = it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16  )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1675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DB8AD"/>
                </a:solidFill>
                <a:latin typeface="Aptos"/>
              </a:rPr>
              <a:t>Evidencia del código: permite ajustar intensidad y activar/desactivar luces y modo automático dentro de la interfaz.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1052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DB8AD"/>
                </a:solidFill>
                <a:latin typeface="Aptos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66BB6A"/>
                </a:solidFill>
                <a:latin typeface="Aptos"/>
              </a:rPr>
              <a:t>EVIDENCIA 3 · NAVEGACIÓN Y BLUETOOTH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DB8AD"/>
                </a:solidFill>
                <a:latin typeface="Aptos"/>
              </a:rPr>
              <a:t>La navegación cambia de sección; el botón Bluetooth solo cambia el estado visual.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051560"/>
            <a:ext cx="1920240" cy="384048"/>
          </a:xfrm>
          <a:prstGeom prst="roundRect">
            <a:avLst/>
          </a:prstGeom>
          <a:solidFill>
            <a:srgbClr val="1B281D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BB6A"/>
                </a:solidFill>
                <a:latin typeface="Aptos"/>
              </a:rPr>
              <a:t>MainActivity.kt  |  Kotlin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572768"/>
            <a:ext cx="10972800" cy="4343400"/>
          </a:xfrm>
          <a:prstGeom prst="roundRect">
            <a:avLst/>
          </a:prstGeom>
          <a:solidFill>
            <a:srgbClr val="0C120D"/>
          </a:solidFill>
          <a:ln>
            <a:solidFill>
              <a:srgbClr val="374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37160" rIns="109728" bIns="7315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CD82"/>
                </a:solidFill>
                <a:latin typeface="Consolas"/>
              </a:rPr>
              <a:t>01  NavigationBarItem(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02      selected = pantallaActual == opcion,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03      onClick = { pantallaActual = opcion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04      label = { Text(opcion)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05  )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06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CD82"/>
                </a:solidFill>
                <a:latin typeface="Consolas"/>
              </a:rPr>
              <a:t>07  Button(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08      onClick =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09          conexionBluetooth = !conexionBluetooth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10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11      modifier = Modifier.fillMaxWidth()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12  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13      Text(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14          if (conexionBluetooth) "Desconectar Bluetooth"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15          else "Conectar Bluetooth"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16      )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D7E6D7"/>
                </a:solidFill>
                <a:latin typeface="Consolas"/>
              </a:rPr>
              <a:t>17 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1675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DB8AD"/>
                </a:solidFill>
                <a:latin typeface="Aptos"/>
              </a:rPr>
              <a:t>Importante: el código mostrado no realiza emparejamiento ni intercambio de datos Bluetooth con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1052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DB8AD"/>
                </a:solidFill>
                <a:latin typeface="Aptos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GREENHOUSE - TI3042 INACAP</dc:title>
  <dc:subject>Presentación general del proyecto IoT</dc:subject>
  <dc:creator>Proyecto académico</dc:creator>
  <cp:keywords>SMART GREENHOUSE, TI3042, INACAP, Android, Firebase, IoT</cp:keywords>
  <dc:description>generated using python-pptx</dc:description>
  <cp:lastModifiedBy>menta aa</cp:lastModifiedBy>
  <cp:revision>2</cp:revision>
  <dcterms:created xsi:type="dcterms:W3CDTF">2013-01-27T09:14:16Z</dcterms:created>
  <dcterms:modified xsi:type="dcterms:W3CDTF">2026-10-30T17:15:46Z</dcterms:modified>
  <cp:category/>
</cp:coreProperties>
</file>